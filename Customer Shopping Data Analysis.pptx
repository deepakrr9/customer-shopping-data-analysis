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71F016-842B-446B-B1F9-590CFD9B19C7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2B1-DF8A-AAEE-3DAA-CFF09C2E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F0687-92F3-87C9-AA90-C34B7A5A2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6404-AF88-862A-589F-E01D41C3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4B07C-0988-CDCC-5DD7-6C820651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2652E-0DAF-D8F6-F790-DA2A93F7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4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C8DF-D300-9EA1-881A-D9260FD22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F8DA-555F-EA03-AAE0-F9659F56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00882-A7A9-0D2E-802E-1C32E43C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F3DF0-C716-3823-D074-08B45402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45BF2-EAAC-25AC-48D0-7A320BD89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8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DF3F-AE6E-8113-DBE8-71E9778A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9DA06-1D3B-B3D5-290E-C8D2AC32B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A634D-2710-068A-FC22-977E94F4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D7F37-AA67-8AEB-76CE-D53629F87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05B60-EFFE-C85B-003E-47E15D1D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9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74CF-0E81-72C3-4AC7-58E48071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F8871-B473-78D8-96C1-DB607169D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66B6E-6E20-44F2-7EFC-CCF2F0ACA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F2C8B-F160-5AF8-DDBD-855F79FA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74793-2CED-1CC5-6692-1A269527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97122-3F26-27A6-9BA4-3028EDEE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6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5176-0052-EAD2-8C2A-8EB91C9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6D819-BCC0-9FE7-7BCF-D3E880F1D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3E144-7B9E-0563-AC7C-5E9565FE7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486D9-152C-58A6-ADA2-48B1FF569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2C2D3D-0137-B045-65F8-566153492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5F020F-6F32-987E-3864-BF7B03ED4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40F74-1DD6-59B2-D199-59B3492D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8D880C-EF95-5FAF-A50D-8A612ECA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4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664C-D3FC-EBA6-76A3-9CACF2F1E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B640A-3857-0195-906C-58C50A17D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62B73-B041-2DB8-F2D6-0A8A4047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642FA-2322-FF4F-4F16-87ABCDC7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5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C0A2C-0246-9863-052D-3E0EC785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D4FCD-DB76-7E7C-3912-D4734252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46506-E030-40A7-80CB-B68B8A4B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1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54D1-68F3-EB82-2C6D-75088847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59008-628D-692B-48EC-9E30E0F6E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93B57-A671-4DEF-930D-709FF79F4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75B21-94D5-F47F-DAE0-23389C05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5F8BA-90FB-EA50-2F1B-30E52680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B786A-BF7A-F134-DEA5-4C850FA2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7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F3B1-C862-8A3E-4838-69C78E05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C7FF2-337C-1144-1DD8-19F27B35F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B660A-0908-A07D-6615-47EADA7D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6ABF8-12FB-1CD2-0C82-4BD204E2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096F0-2DC2-CBAA-2164-52BB0B53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668B2-C296-4F94-B6DC-D98A7401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53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2708A-4EC4-9E3E-DBC0-F26119CC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1661E-B705-50DA-FB3A-E9FDAE2A6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38F94-E5EC-9D97-0DCD-F4220C3A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771F-E020-FBF6-07AE-1A9EC3B5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A3FB-A692-1719-647C-7311334E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6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157A1-019C-E097-0307-F9BA89D7C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7DB82-F2E7-2D7E-2E0E-31652DA57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C03DD-B6C8-FFF7-B092-60DC6F51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48A8-7E1B-0747-A826-75A8E0B1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EEA1-A4B2-58E4-521D-D5682493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3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5BA1A-952D-DDF2-1363-5D811E88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6A502-609B-8BE5-A8F5-CD010C006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1468E-AD9E-CD8F-F58D-9527046F1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3CA1D-0FB7-4F0E-859C-F35302B85E07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E7065-C330-A774-BD6C-4299A7D7D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3176A-44BB-323F-A3C4-95EA81BBD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881C8-7588-42A9-BBF3-644B4FD1C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7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C511-9C63-B58B-C672-1032E98FD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2733" y="625151"/>
            <a:ext cx="8204200" cy="1651517"/>
          </a:xfr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b="1" dirty="0"/>
              <a:t>Customer Shopping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73ADF-19B7-DCA3-3951-D8263599D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6424"/>
            <a:ext cx="9144000" cy="2444621"/>
          </a:xfr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Internship Project June-2026 </a:t>
            </a:r>
          </a:p>
          <a:p>
            <a:r>
              <a:rPr lang="en-US" b="1" dirty="0">
                <a:latin typeface="Arial Black" panose="020B0A04020102020204" pitchFamily="34" charset="0"/>
              </a:rPr>
              <a:t>PRDA-05-Customer Data Analysis</a:t>
            </a:r>
          </a:p>
          <a:p>
            <a:pPr algn="l"/>
            <a:endParaRPr lang="en-US" b="1" dirty="0">
              <a:latin typeface="Arial Black" panose="020B0A040201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Submitted By: Deepak R </a:t>
            </a:r>
            <a:r>
              <a:rPr lang="en-US" b="1" dirty="0" err="1">
                <a:latin typeface="Arial Black" panose="020B0A04020102020204" pitchFamily="34" charset="0"/>
              </a:rPr>
              <a:t>Rayabagkar</a:t>
            </a:r>
            <a:endParaRPr lang="en-US" b="1" dirty="0">
              <a:latin typeface="Arial Black" panose="020B0A040201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Tools Used: SQL | Power Bi | Power Query | DAX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 Black" panose="020B0A04020102020204" pitchFamily="34" charset="0"/>
              </a:rPr>
              <a:t>Dataset Source: MySQL Database(99,457 Records)</a:t>
            </a:r>
          </a:p>
          <a:p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18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55F-D23B-1FCB-618A-87773156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7" y="365125"/>
            <a:ext cx="10515600" cy="1325563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Project </a:t>
            </a:r>
            <a:r>
              <a:rPr lang="en-US" dirty="0">
                <a:latin typeface="Arial Narrow" panose="020B0606020202030204" pitchFamily="34" charset="0"/>
              </a:rPr>
              <a:t>overview</a:t>
            </a:r>
            <a:r>
              <a:rPr lang="en-US" dirty="0"/>
              <a:t> and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36A5EC-1C7D-5A2F-917B-5FDAA9EC11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7677" y="1882265"/>
            <a:ext cx="10622604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project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analyzes customer shopping behavior using SQL and Power BI. It examines customer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demographics, product categories, payment methods, and revenue to identify shopping patterns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generate meaningful business insights through an interactive dashboard.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FFBBFB-DD9E-2D6B-D976-E2C734AC4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20" y="3169797"/>
            <a:ext cx="10535261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Analyze customer shopping behavior by gender and 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Identify high-revenue product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Compare revenue and products sold across customer segments.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Study payment method preferences.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Build an interactive Power BI dashboard for business insights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27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08BF-49B4-FADC-0B23-3D69A766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613"/>
            <a:ext cx="9042918" cy="174482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ctr"/>
            <a:r>
              <a:rPr lang="en-US" sz="2800" b="1" cap="none" dirty="0">
                <a:latin typeface="Arial Black" panose="020B0A04020102020204" pitchFamily="34" charset="0"/>
              </a:rPr>
              <a:t>Dataset Overview:</a:t>
            </a:r>
            <a:br>
              <a:rPr lang="en-US" sz="2800" b="1" cap="none" dirty="0">
                <a:latin typeface="Arial Black" panose="020B0A04020102020204" pitchFamily="34" charset="0"/>
              </a:rPr>
            </a:b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cap="none" dirty="0"/>
              <a:t>Dataset Source: MySQL Database</a:t>
            </a:r>
            <a:br>
              <a:rPr lang="en-US" sz="2800" cap="none" dirty="0"/>
            </a:br>
            <a:r>
              <a:rPr lang="en-US" sz="2800" cap="none" dirty="0"/>
              <a:t>Total Records: 99,457 Transactions</a:t>
            </a:r>
            <a:endParaRPr lang="en-US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FEC6F5-0B70-70B6-EA4B-8B8CF7E15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2809"/>
            <a:ext cx="10515600" cy="4628578"/>
          </a:xfrm>
        </p:spPr>
        <p:txBody>
          <a:bodyPr>
            <a:normAutofit fontScale="92500" lnSpcReduction="20000"/>
          </a:bodyPr>
          <a:lstStyle/>
          <a:p>
            <a:pPr marL="571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1800" b="1" u="sng" dirty="0">
                <a:effectLst/>
                <a:latin typeface="Arial Black" panose="020B0A04020102020204" pitchFamily="34" charset="0"/>
                <a:ea typeface="Book Antiqua" panose="02040602050305030304" pitchFamily="18" charset="0"/>
                <a:cs typeface="Book Antiqua" panose="02040602050305030304" pitchFamily="18" charset="0"/>
              </a:rPr>
              <a:t>Attribute Information:</a:t>
            </a:r>
            <a:endParaRPr lang="en-US" sz="1800" b="1" dirty="0">
              <a:effectLst/>
              <a:latin typeface="Arial Black" panose="020B0A0402010202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invoice_no: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 combination of the letter 'I' and a 6-digit integer uniquely assigned to each operation.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customer_id: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 combination of the letter 'C' and a 6-digit integer uniquely assigned to each operation.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gender: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String variable of the customer's gender.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age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: Positive Integer variable of the customers age.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category: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String variable of the category of the purchased product.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quantity: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 quantities of each product (item) per transaction.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price: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 Product price per unit in Turkish Liras (TL).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payment_method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String variable of the payment method (cash, credit card or debit card) used for the transaction.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kern="100" dirty="0" err="1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invoice_date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: 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The day when a transaction was generated.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800" b="1" kern="100" dirty="0" err="1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shopping_mall</a:t>
            </a:r>
            <a:r>
              <a:rPr lang="en-US" sz="1800" b="1" kern="1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: </a:t>
            </a:r>
            <a:r>
              <a:rPr lang="en-US" sz="1800" kern="100" dirty="0">
                <a:effectLst/>
                <a:latin typeface="Book Antiqua" panose="02040602050305030304" pitchFamily="18" charset="0"/>
                <a:ea typeface="Book Antiqua" panose="02040602050305030304" pitchFamily="18" charset="0"/>
                <a:cs typeface="Book Antiqua" panose="02040602050305030304" pitchFamily="18" charset="0"/>
              </a:rPr>
              <a:t>String variable of the name of the shopping mall where the transaction was made.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42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D3B488-F201-171F-7DF4-DBC5807BAED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Shopping </a:t>
            </a:r>
            <a:r>
              <a:rPr lang="en-US" dirty="0">
                <a:latin typeface="Arial Narrow" panose="020B0606020202030204" pitchFamily="34" charset="0"/>
              </a:rPr>
              <a:t>Distribution</a:t>
            </a:r>
            <a:r>
              <a:rPr lang="en-US" dirty="0"/>
              <a:t> by Gender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65513B1-4C6D-42E1-76F7-E403F9D9E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4" t="8852" r="15448" b="13781"/>
          <a:stretch/>
        </p:blipFill>
        <p:spPr>
          <a:xfrm>
            <a:off x="838200" y="1768509"/>
            <a:ext cx="5417470" cy="480218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269F70-4797-10DA-02AB-86FFCA3B7570}"/>
              </a:ext>
            </a:extLst>
          </p:cNvPr>
          <p:cNvSpPr txBox="1"/>
          <p:nvPr/>
        </p:nvSpPr>
        <p:spPr>
          <a:xfrm>
            <a:off x="6096000" y="2045943"/>
            <a:ext cx="590793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 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Female customers account for the highest shopping transactions</a:t>
            </a:r>
            <a:r>
              <a:rPr lang="en-US" sz="1600" dirty="0"/>
              <a:t> with </a:t>
            </a:r>
            <a:r>
              <a:rPr lang="en-US" sz="1600" b="1" dirty="0"/>
              <a:t>59.48K</a:t>
            </a:r>
            <a:r>
              <a:rPr lang="en-US" sz="1600" dirty="0"/>
              <a:t> purchases.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Male customers contributed 39.98K shopping transactions</a:t>
            </a:r>
            <a:r>
              <a:rPr lang="en-US" sz="1600" dirty="0"/>
              <a:t>, which is significantly lower than female customers.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Female customers represent approximately 60% of total shopping transactions</a:t>
            </a:r>
            <a:r>
              <a:rPr lang="en-US" sz="1600" dirty="0"/>
              <a:t>, while male customers account for around </a:t>
            </a:r>
            <a:r>
              <a:rPr lang="en-US" sz="1600" b="1" dirty="0"/>
              <a:t>40%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shopping data indicates that </a:t>
            </a:r>
            <a:r>
              <a:rPr lang="en-US" sz="1600" b="1" dirty="0"/>
              <a:t>female customers are the dominant customer segment</a:t>
            </a:r>
            <a:r>
              <a:rPr lang="en-US" sz="1600" dirty="0"/>
              <a:t> in terms of shopping frequency.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company has a </a:t>
            </a:r>
            <a:r>
              <a:rPr lang="en-US" sz="1600" b="1" dirty="0"/>
              <a:t>stronger customer engagement among female shoppers</a:t>
            </a:r>
            <a:r>
              <a:rPr lang="en-US" sz="1600" dirty="0"/>
              <a:t>, making them a key target audience for marketing and promotional campaigns.</a:t>
            </a:r>
          </a:p>
        </p:txBody>
      </p:sp>
    </p:spTree>
    <p:extLst>
      <p:ext uri="{BB962C8B-B14F-4D97-AF65-F5344CB8AC3E}">
        <p14:creationId xmlns:p14="http://schemas.microsoft.com/office/powerpoint/2010/main" val="248648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8482-4266-E32A-FB62-130C5814C78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Products Sold by Gender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134DA4-81EF-F7A2-4AE8-867F2DCAC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3" t="8057" r="12330" b="10017"/>
          <a:stretch/>
        </p:blipFill>
        <p:spPr>
          <a:xfrm>
            <a:off x="838200" y="1875452"/>
            <a:ext cx="5170714" cy="45797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27E8E1-AB9C-078D-D13C-81A938740DC1}"/>
              </a:ext>
            </a:extLst>
          </p:cNvPr>
          <p:cNvSpPr txBox="1"/>
          <p:nvPr/>
        </p:nvSpPr>
        <p:spPr>
          <a:xfrm>
            <a:off x="6008914" y="2302938"/>
            <a:ext cx="5889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Female customers purchased approximately 179K products</a:t>
            </a:r>
            <a:r>
              <a:rPr lang="en-US" dirty="0"/>
              <a:t>, which is the highest among all customer segments.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Male customers purchased around 120K products</a:t>
            </a:r>
            <a:r>
              <a:rPr lang="en-US" dirty="0"/>
              <a:t>, significantly fewer than female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Female customers contributed nearly 60% of the total products sold</a:t>
            </a:r>
            <a:r>
              <a:rPr lang="en-US" dirty="0"/>
              <a:t>, indicating higher purchasing activity.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difference of </a:t>
            </a:r>
            <a:r>
              <a:rPr lang="en-US" b="1" dirty="0"/>
              <a:t>about 59K products</a:t>
            </a:r>
            <a:r>
              <a:rPr lang="en-US" dirty="0"/>
              <a:t> between female and male customers suggests stronger product demand from female shoppers. </a:t>
            </a:r>
          </a:p>
        </p:txBody>
      </p:sp>
    </p:spTree>
    <p:extLst>
      <p:ext uri="{BB962C8B-B14F-4D97-AF65-F5344CB8AC3E}">
        <p14:creationId xmlns:p14="http://schemas.microsoft.com/office/powerpoint/2010/main" val="316386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78F6-BA1D-D503-107C-749D34B6463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Total </a:t>
            </a:r>
            <a:r>
              <a:rPr lang="en-US" dirty="0">
                <a:latin typeface="Arial Narrow" panose="020B0606020202030204" pitchFamily="34" charset="0"/>
              </a:rPr>
              <a:t>Revenue</a:t>
            </a:r>
            <a:r>
              <a:rPr lang="en-US" dirty="0"/>
              <a:t> by Gender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B7A2C-572C-3978-A261-C96214462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0" t="8055" r="12954" b="13113"/>
          <a:stretch/>
        </p:blipFill>
        <p:spPr>
          <a:xfrm>
            <a:off x="838199" y="1884783"/>
            <a:ext cx="5504965" cy="422676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6D3C66-69CB-8E43-40E4-F4D53562B842}"/>
              </a:ext>
            </a:extLst>
          </p:cNvPr>
          <p:cNvSpPr txBox="1"/>
          <p:nvPr/>
        </p:nvSpPr>
        <p:spPr>
          <a:xfrm>
            <a:off x="6094446" y="2151507"/>
            <a:ext cx="58300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– Total Revenue by Gender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Female customers generated the highest total revenue of approximately 150M</a:t>
            </a:r>
            <a:r>
              <a:rPr lang="en-US" dirty="0"/>
              <a:t>, outperforming male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Male customers generated around 101M in total revenue</a:t>
            </a:r>
            <a:r>
              <a:rPr lang="en-US" dirty="0"/>
              <a:t>, which is considerably lower than female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Female customers contributed nearly 60% of the overall revenue</a:t>
            </a:r>
            <a:r>
              <a:rPr lang="en-US" dirty="0"/>
              <a:t>, making them the primary revenue-generating customer segment.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revenue difference of </a:t>
            </a:r>
            <a:r>
              <a:rPr lang="en-US" b="1" dirty="0"/>
              <a:t>approximately 49M</a:t>
            </a:r>
            <a:r>
              <a:rPr lang="en-US" dirty="0"/>
              <a:t> between female and male customers indicates stronger purchasing power and/or higher shopping frequency among female customers.</a:t>
            </a:r>
          </a:p>
        </p:txBody>
      </p:sp>
    </p:spTree>
    <p:extLst>
      <p:ext uri="{BB962C8B-B14F-4D97-AF65-F5344CB8AC3E}">
        <p14:creationId xmlns:p14="http://schemas.microsoft.com/office/powerpoint/2010/main" val="140818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87DB-8397-B262-0CCA-03060CCFD89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Total Products sold by Category &amp; Gender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4DBFEB-B856-80C2-CAC8-709D9634E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" t="9660" r="4235" b="8403"/>
          <a:stretch/>
        </p:blipFill>
        <p:spPr>
          <a:xfrm>
            <a:off x="714374" y="1717727"/>
            <a:ext cx="5095875" cy="33528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6D70A9-5995-E104-A1AF-F033FA2A197B}"/>
              </a:ext>
            </a:extLst>
          </p:cNvPr>
          <p:cNvSpPr txBox="1"/>
          <p:nvPr/>
        </p:nvSpPr>
        <p:spPr>
          <a:xfrm>
            <a:off x="5810249" y="1742271"/>
            <a:ext cx="62484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Clothing is the highest-selling product category</a:t>
            </a:r>
            <a:r>
              <a:rPr lang="en-US" dirty="0"/>
              <a:t>, with approximately </a:t>
            </a:r>
            <a:r>
              <a:rPr lang="en-US" b="1" dirty="0"/>
              <a:t>62K products sold to female customers</a:t>
            </a:r>
            <a:r>
              <a:rPr lang="en-US" dirty="0"/>
              <a:t> and </a:t>
            </a:r>
            <a:r>
              <a:rPr lang="en-US" b="1" dirty="0"/>
              <a:t>42K to male customers</a:t>
            </a:r>
            <a:r>
              <a:rPr lang="en-US" dirty="0"/>
              <a:t>, making it the most popular category overall.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Female customers purchased more products than male customers across every product category</a:t>
            </a:r>
            <a:r>
              <a:rPr lang="en-US" dirty="0"/>
              <a:t>, indicating consistently higher purchasing activity.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Cosmetics (27K)</a:t>
            </a:r>
            <a:r>
              <a:rPr lang="en-US" dirty="0"/>
              <a:t> and </a:t>
            </a:r>
            <a:r>
              <a:rPr lang="en-US" b="1" dirty="0"/>
              <a:t>Food &amp; Beverage (26K)</a:t>
            </a:r>
            <a:r>
              <a:rPr lang="en-US" dirty="0"/>
              <a:t> are the next most popular categories among female customers, while male customers purchased approximately </a:t>
            </a:r>
            <a:r>
              <a:rPr lang="en-US" b="1" dirty="0"/>
              <a:t>18K</a:t>
            </a:r>
            <a:r>
              <a:rPr lang="en-US" dirty="0"/>
              <a:t> products in each of these categories.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311B71-081E-978B-B323-ACDA82225CEB}"/>
              </a:ext>
            </a:extLst>
          </p:cNvPr>
          <p:cNvSpPr txBox="1"/>
          <p:nvPr/>
        </p:nvSpPr>
        <p:spPr>
          <a:xfrm>
            <a:off x="638176" y="5070527"/>
            <a:ext cx="105727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Toys</a:t>
            </a:r>
            <a:r>
              <a:rPr lang="en-US" dirty="0"/>
              <a:t> and </a:t>
            </a:r>
            <a:r>
              <a:rPr lang="en-US" b="1" dirty="0"/>
              <a:t>Shoes</a:t>
            </a:r>
            <a:r>
              <a:rPr lang="en-US" dirty="0"/>
              <a:t> recorded moderate sales, with female customers purchasing around </a:t>
            </a:r>
            <a:r>
              <a:rPr lang="en-US" b="1" dirty="0"/>
              <a:t>18K</a:t>
            </a:r>
            <a:r>
              <a:rPr lang="en-US" dirty="0"/>
              <a:t> products compared to </a:t>
            </a:r>
            <a:r>
              <a:rPr lang="en-US" b="1" dirty="0"/>
              <a:t>12K</a:t>
            </a:r>
            <a:r>
              <a:rPr lang="en-US" dirty="0"/>
              <a:t> by male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Technology, Books, and Souvenirs</a:t>
            </a:r>
            <a:r>
              <a:rPr lang="en-US" dirty="0"/>
              <a:t> are the least purchased categories, with female customers buying approximately </a:t>
            </a:r>
            <a:r>
              <a:rPr lang="en-US" b="1" dirty="0"/>
              <a:t>9K</a:t>
            </a:r>
            <a:r>
              <a:rPr lang="en-US" dirty="0"/>
              <a:t> products and male customers around </a:t>
            </a:r>
            <a:r>
              <a:rPr lang="en-US" b="1" dirty="0"/>
              <a:t>6K</a:t>
            </a:r>
            <a:r>
              <a:rPr lang="en-US" dirty="0"/>
              <a:t> in each category.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analysis indicates that </a:t>
            </a:r>
            <a:r>
              <a:rPr lang="en-US" b="1" dirty="0"/>
              <a:t>female customers are the primary contributors to product sales across all categories</a:t>
            </a:r>
            <a:r>
              <a:rPr lang="en-US" dirty="0"/>
              <a:t>, with the largest gender gap observed in the </a:t>
            </a:r>
            <a:r>
              <a:rPr lang="en-US" b="1" dirty="0"/>
              <a:t>Clothing</a:t>
            </a:r>
            <a:r>
              <a:rPr lang="en-US" dirty="0"/>
              <a:t> category.</a:t>
            </a:r>
          </a:p>
        </p:txBody>
      </p:sp>
    </p:spTree>
    <p:extLst>
      <p:ext uri="{BB962C8B-B14F-4D97-AF65-F5344CB8AC3E}">
        <p14:creationId xmlns:p14="http://schemas.microsoft.com/office/powerpoint/2010/main" val="54505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C15-D098-5D1E-96CF-725F0464FF70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Shopping Distribution by 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0CBC3-6B8D-A745-89D0-DB6291CC9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3" t="3390" r="6150" b="5559"/>
          <a:stretch/>
        </p:blipFill>
        <p:spPr>
          <a:xfrm>
            <a:off x="838200" y="1838127"/>
            <a:ext cx="4152125" cy="306502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06270-FB21-00A4-38A1-A05D428E48D9}"/>
              </a:ext>
            </a:extLst>
          </p:cNvPr>
          <p:cNvSpPr txBox="1"/>
          <p:nvPr/>
        </p:nvSpPr>
        <p:spPr>
          <a:xfrm>
            <a:off x="4990325" y="1800979"/>
            <a:ext cx="63634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Customers aged 56+ recorded the highest shopping activity</a:t>
            </a:r>
            <a:r>
              <a:rPr lang="en-US" dirty="0"/>
              <a:t>, with approximately </a:t>
            </a:r>
            <a:r>
              <a:rPr lang="en-US" b="1" dirty="0"/>
              <a:t>26.6K transactions</a:t>
            </a:r>
            <a:r>
              <a:rPr lang="en-US" dirty="0"/>
              <a:t>, making them the most active customer segment.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36–45, 26–35, and 46–55 age groups showed similar shopping activity</a:t>
            </a:r>
            <a:r>
              <a:rPr lang="en-US" dirty="0"/>
              <a:t>, with around </a:t>
            </a:r>
            <a:r>
              <a:rPr lang="en-US" b="1" dirty="0"/>
              <a:t>19K transactions each</a:t>
            </a:r>
            <a:r>
              <a:rPr lang="en-US" dirty="0"/>
              <a:t>, indicating consistent purchasing behavior across these age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18–25 age group recorded the lowest shopping activity</a:t>
            </a:r>
            <a:r>
              <a:rPr lang="en-US" dirty="0"/>
              <a:t>, with approximately </a:t>
            </a:r>
            <a:r>
              <a:rPr lang="en-US" b="1" dirty="0"/>
              <a:t>15.4K transactions</a:t>
            </a:r>
            <a:r>
              <a:rPr lang="en-US" dirty="0"/>
              <a:t>, suggesting lower participation compared to older age groups.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E4591-FC3E-D7A1-D39B-7D931AD4F1F3}"/>
              </a:ext>
            </a:extLst>
          </p:cNvPr>
          <p:cNvSpPr txBox="1"/>
          <p:nvPr/>
        </p:nvSpPr>
        <p:spPr>
          <a:xfrm>
            <a:off x="494520" y="5156563"/>
            <a:ext cx="10730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shopping distribution indicates that </a:t>
            </a:r>
            <a:r>
              <a:rPr lang="en-US" b="1" dirty="0"/>
              <a:t>middle-aged and senior customers contribute the majority of shopping transactions</a:t>
            </a:r>
            <a:r>
              <a:rPr lang="en-US" dirty="0"/>
              <a:t>, highlighting them as the company's core customer base.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relatively balanced transaction counts among the </a:t>
            </a:r>
            <a:r>
              <a:rPr lang="en-US" b="1" dirty="0"/>
              <a:t>26–55 age groups</a:t>
            </a:r>
            <a:r>
              <a:rPr lang="en-US" dirty="0"/>
              <a:t> suggest a stable customer distribution, while the </a:t>
            </a:r>
            <a:r>
              <a:rPr lang="en-US" b="1" dirty="0"/>
              <a:t>56+ segment stands out as the most engaged</a:t>
            </a:r>
            <a:r>
              <a:rPr lang="en-US" dirty="0"/>
              <a:t> in terms of shopping frequency.</a:t>
            </a:r>
          </a:p>
        </p:txBody>
      </p:sp>
    </p:spTree>
    <p:extLst>
      <p:ext uri="{BB962C8B-B14F-4D97-AF65-F5344CB8AC3E}">
        <p14:creationId xmlns:p14="http://schemas.microsoft.com/office/powerpoint/2010/main" val="159471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A40D7-AAE6-D723-27C0-C20B7150EF1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Products sold by 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499024-7989-7B11-ACEC-D96AA0D27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" t="6506" r="4075" b="7825"/>
          <a:stretch/>
        </p:blipFill>
        <p:spPr>
          <a:xfrm>
            <a:off x="838201" y="1800808"/>
            <a:ext cx="4489580" cy="334969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02C5C1-BB0F-D8DA-E3CE-93F21BB8E8B6}"/>
              </a:ext>
            </a:extLst>
          </p:cNvPr>
          <p:cNvSpPr txBox="1"/>
          <p:nvPr/>
        </p:nvSpPr>
        <p:spPr>
          <a:xfrm>
            <a:off x="5327781" y="1800808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Customers aged 56+ purchased the highest number of products</a:t>
            </a:r>
            <a:r>
              <a:rPr lang="en-US" dirty="0"/>
              <a:t>, with approximately </a:t>
            </a:r>
            <a:r>
              <a:rPr lang="en-US" b="1" dirty="0"/>
              <a:t>80K products sold</a:t>
            </a:r>
            <a:r>
              <a:rPr lang="en-US" dirty="0"/>
              <a:t>, making them the most valuable customer segment in terms of product purchases.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36–45 age group ranked second</a:t>
            </a:r>
            <a:r>
              <a:rPr lang="en-US" dirty="0"/>
              <a:t>, purchasing around </a:t>
            </a:r>
            <a:r>
              <a:rPr lang="en-US" b="1" dirty="0"/>
              <a:t>58K products</a:t>
            </a:r>
            <a:r>
              <a:rPr lang="en-US" dirty="0"/>
              <a:t>, followed closely by the </a:t>
            </a:r>
            <a:r>
              <a:rPr lang="en-US" b="1" dirty="0"/>
              <a:t>26–35</a:t>
            </a:r>
            <a:r>
              <a:rPr lang="en-US" dirty="0"/>
              <a:t> and </a:t>
            </a:r>
            <a:r>
              <a:rPr lang="en-US" b="1" dirty="0"/>
              <a:t>46–55</a:t>
            </a:r>
            <a:r>
              <a:rPr lang="en-US" dirty="0"/>
              <a:t> age groups with </a:t>
            </a:r>
            <a:r>
              <a:rPr lang="en-US" b="1" dirty="0"/>
              <a:t>57K products each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18–25 age group purchased the fewest products</a:t>
            </a:r>
            <a:r>
              <a:rPr lang="en-US" dirty="0"/>
              <a:t>, with approximately </a:t>
            </a:r>
            <a:r>
              <a:rPr lang="en-US" b="1" dirty="0"/>
              <a:t>46K products sold</a:t>
            </a:r>
            <a:r>
              <a:rPr lang="en-US" dirty="0"/>
              <a:t>, indicating comparatively lower buying activity.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C266C-AF33-B60D-BC69-5EB482238097}"/>
              </a:ext>
            </a:extLst>
          </p:cNvPr>
          <p:cNvSpPr txBox="1"/>
          <p:nvPr/>
        </p:nvSpPr>
        <p:spPr>
          <a:xfrm>
            <a:off x="838199" y="5150498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product sales across the </a:t>
            </a:r>
            <a:r>
              <a:rPr lang="en-US" b="1" dirty="0"/>
              <a:t>26–55 age groups are relatively consistent</a:t>
            </a:r>
            <a:r>
              <a:rPr lang="en-US" dirty="0"/>
              <a:t>, suggesting a stable purchasing pattern among middle-aged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analysis indicates that </a:t>
            </a:r>
            <a:r>
              <a:rPr lang="en-US" b="1" dirty="0"/>
              <a:t>older customers (56+) contribute significantly more to product sales</a:t>
            </a:r>
            <a:r>
              <a:rPr lang="en-US" dirty="0"/>
              <a:t> than other age groups, making them an important customer segment for sales growth and customer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518812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ABAE-AF54-6A6F-E882-7181BD797DE6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Revenue Generated by 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7464E-1772-6CD7-7642-2E823B580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" r="1839" b="2816"/>
          <a:stretch/>
        </p:blipFill>
        <p:spPr>
          <a:xfrm>
            <a:off x="838200" y="1769704"/>
            <a:ext cx="4545563" cy="341631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596C04-4767-1B38-75A2-9A1B3E8F729C}"/>
              </a:ext>
            </a:extLst>
          </p:cNvPr>
          <p:cNvSpPr txBox="1"/>
          <p:nvPr/>
        </p:nvSpPr>
        <p:spPr>
          <a:xfrm>
            <a:off x="5383763" y="1769704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Customers aged 56+ generated the highest revenue</a:t>
            </a:r>
            <a:r>
              <a:rPr lang="en-US" dirty="0"/>
              <a:t>, contributing approximately </a:t>
            </a:r>
            <a:r>
              <a:rPr lang="en-US" b="1" dirty="0"/>
              <a:t>67.1M</a:t>
            </a:r>
            <a:r>
              <a:rPr lang="en-US" dirty="0"/>
              <a:t>, making them the most valuable customer segment.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36–45 age group ranked second</a:t>
            </a:r>
            <a:r>
              <a:rPr lang="en-US" dirty="0"/>
              <a:t>, generating around </a:t>
            </a:r>
            <a:r>
              <a:rPr lang="en-US" b="1" dirty="0"/>
              <a:t>50.2M</a:t>
            </a:r>
            <a:r>
              <a:rPr lang="en-US" dirty="0"/>
              <a:t> in total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46–55</a:t>
            </a:r>
            <a:r>
              <a:rPr lang="en-US" dirty="0"/>
              <a:t> and </a:t>
            </a:r>
            <a:r>
              <a:rPr lang="en-US" b="1" dirty="0"/>
              <a:t>26–35 age groups</a:t>
            </a:r>
            <a:r>
              <a:rPr lang="en-US" dirty="0"/>
              <a:t> generated </a:t>
            </a:r>
            <a:r>
              <a:rPr lang="en-US" b="1" dirty="0"/>
              <a:t>48.2M</a:t>
            </a:r>
            <a:r>
              <a:rPr lang="en-US" dirty="0"/>
              <a:t> and </a:t>
            </a:r>
            <a:r>
              <a:rPr lang="en-US" b="1" dirty="0"/>
              <a:t>47.9M</a:t>
            </a:r>
            <a:r>
              <a:rPr lang="en-US" dirty="0"/>
              <a:t> respectively, indicating similar spending patterns.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18–25 age group generated the lowest revenue</a:t>
            </a:r>
            <a:r>
              <a:rPr lang="en-US" dirty="0"/>
              <a:t>, contributing approximately </a:t>
            </a:r>
            <a:r>
              <a:rPr lang="en-US" b="1" dirty="0"/>
              <a:t>38.1M</a:t>
            </a:r>
            <a:r>
              <a:rPr lang="en-US" dirty="0"/>
              <a:t>, suggesting lower purchasing power or fewer purchases.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1FDDE-69B3-CB43-CCDA-E6BAB49336D0}"/>
              </a:ext>
            </a:extLst>
          </p:cNvPr>
          <p:cNvSpPr txBox="1"/>
          <p:nvPr/>
        </p:nvSpPr>
        <p:spPr>
          <a:xfrm>
            <a:off x="838200" y="5107793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analysis shows that </a:t>
            </a:r>
            <a:r>
              <a:rPr lang="en-US" b="1" dirty="0"/>
              <a:t>revenue generally increases with age</a:t>
            </a:r>
            <a:r>
              <a:rPr lang="en-US" dirty="0"/>
              <a:t>, with customers aged </a:t>
            </a:r>
            <a:r>
              <a:rPr lang="en-US" b="1" dirty="0"/>
              <a:t>36 years and above contributing the majority of the company's total revenue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56+ age group stands out as the highest revenue-generating segment</a:t>
            </a:r>
            <a:r>
              <a:rPr lang="en-US" dirty="0"/>
              <a:t>, making them a key customer group for customer retention, loyalty programs, and premium product offerings.</a:t>
            </a:r>
          </a:p>
        </p:txBody>
      </p:sp>
    </p:spTree>
    <p:extLst>
      <p:ext uri="{BB962C8B-B14F-4D97-AF65-F5344CB8AC3E}">
        <p14:creationId xmlns:p14="http://schemas.microsoft.com/office/powerpoint/2010/main" val="414879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6D6AA-955E-7086-34CD-CA993A0B1B3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Revenue Generated by Category &amp; Payment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EB62F2-2853-3DF7-0763-73B605A09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t="5434" r="10956" b="8579"/>
          <a:stretch/>
        </p:blipFill>
        <p:spPr>
          <a:xfrm>
            <a:off x="712238" y="1819414"/>
            <a:ext cx="4363616" cy="271404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5306E2-B9D1-BC6F-A2A5-83869C79B462}"/>
              </a:ext>
            </a:extLst>
          </p:cNvPr>
          <p:cNvSpPr txBox="1"/>
          <p:nvPr/>
        </p:nvSpPr>
        <p:spPr>
          <a:xfrm>
            <a:off x="5166050" y="1819414"/>
            <a:ext cx="61877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Clothing generated the highest revenue across all payment methods</a:t>
            </a:r>
            <a:r>
              <a:rPr lang="en-US" dirty="0"/>
              <a:t>, with </a:t>
            </a:r>
            <a:r>
              <a:rPr lang="en-US" b="1" dirty="0"/>
              <a:t>Cash (51.31M)</a:t>
            </a:r>
            <a:r>
              <a:rPr lang="en-US" dirty="0"/>
              <a:t> contributing the most, followed by </a:t>
            </a:r>
            <a:r>
              <a:rPr lang="en-US" b="1" dirty="0"/>
              <a:t>Credit Card (39.35M)</a:t>
            </a:r>
            <a:r>
              <a:rPr lang="en-US" dirty="0"/>
              <a:t> and </a:t>
            </a:r>
            <a:r>
              <a:rPr lang="en-US" b="1" dirty="0"/>
              <a:t>Debit Card (23.34M)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Shoes and Technology are the second and third highest revenue-generating categories</a:t>
            </a:r>
            <a:r>
              <a:rPr lang="en-US" dirty="0"/>
              <a:t>, indicating strong customer demand after Clothing.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08E09-116C-B575-5837-73B3A711675F}"/>
              </a:ext>
            </a:extLst>
          </p:cNvPr>
          <p:cNvSpPr txBox="1"/>
          <p:nvPr/>
        </p:nvSpPr>
        <p:spPr>
          <a:xfrm>
            <a:off x="838200" y="4524820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is the most preferred payment method across almost all product categories</a:t>
            </a:r>
            <a:r>
              <a:rPr lang="en-US" dirty="0"/>
              <a:t>, consistently generating higher revenue than Credit Card and Debit Card.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Credit Card transactions generated higher revenue than Debit Card</a:t>
            </a:r>
            <a:r>
              <a:rPr lang="en-US" dirty="0"/>
              <a:t> across every product category, making it the second most preferred payment method.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Books, Souvenirs, Food &amp; Beverage, and Toys contributed comparatively lower revenue</a:t>
            </a:r>
            <a:r>
              <a:rPr lang="en-US" dirty="0"/>
              <a:t>, suggesting lower customer spending in these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analysis indicates that </a:t>
            </a:r>
            <a:r>
              <a:rPr lang="en-US" b="1" dirty="0"/>
              <a:t>high-value product categories such as Clothing, Shoes, and Technology account for the majority of total revenue</a:t>
            </a:r>
            <a:r>
              <a:rPr lang="en-US" dirty="0"/>
              <a:t>, regardless of the payment method used. </a:t>
            </a:r>
          </a:p>
        </p:txBody>
      </p:sp>
    </p:spTree>
    <p:extLst>
      <p:ext uri="{BB962C8B-B14F-4D97-AF65-F5344CB8AC3E}">
        <p14:creationId xmlns:p14="http://schemas.microsoft.com/office/powerpoint/2010/main" val="120090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EFA3-61A4-F2CA-F273-FBB74C31E0F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Payment Method Related to Revenue &amp; 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AC0E8E-6BBF-DC36-364A-1100DEB21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51" r="2971"/>
          <a:stretch/>
        </p:blipFill>
        <p:spPr>
          <a:xfrm>
            <a:off x="838201" y="1766082"/>
            <a:ext cx="5767821" cy="251782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8201BA-AB37-E50F-9626-48DE3D1D26B6}"/>
              </a:ext>
            </a:extLst>
          </p:cNvPr>
          <p:cNvSpPr txBox="1"/>
          <p:nvPr/>
        </p:nvSpPr>
        <p:spPr>
          <a:xfrm>
            <a:off x="6606022" y="1827520"/>
            <a:ext cx="54304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generated the highest total revenue (approximately 112.83M)</a:t>
            </a:r>
            <a:r>
              <a:rPr lang="en-US" dirty="0"/>
              <a:t>, making it the most preferred payment method across all age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Credit Card ranked second</a:t>
            </a:r>
            <a:r>
              <a:rPr lang="en-US" dirty="0"/>
              <a:t>, contributing approximately </a:t>
            </a:r>
            <a:r>
              <a:rPr lang="en-US" b="1" dirty="0"/>
              <a:t>88.08M</a:t>
            </a:r>
            <a:r>
              <a:rPr lang="en-US" dirty="0"/>
              <a:t>, while </a:t>
            </a:r>
            <a:r>
              <a:rPr lang="en-US" b="1" dirty="0"/>
              <a:t>Debit Card generated the lowest revenue</a:t>
            </a:r>
            <a:r>
              <a:rPr lang="en-US" dirty="0"/>
              <a:t> at around </a:t>
            </a:r>
            <a:r>
              <a:rPr lang="en-US" b="1" dirty="0"/>
              <a:t>50.60M</a:t>
            </a:r>
            <a:r>
              <a:rPr lang="en-US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742FFA-4772-6365-79B6-3AAF5C44A73D}"/>
              </a:ext>
            </a:extLst>
          </p:cNvPr>
          <p:cNvSpPr txBox="1"/>
          <p:nvPr/>
        </p:nvSpPr>
        <p:spPr>
          <a:xfrm>
            <a:off x="875471" y="4197282"/>
            <a:ext cx="10515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56+ age group contributed the highest revenue across all payment methods</a:t>
            </a:r>
            <a:r>
              <a:rPr lang="en-US" dirty="0"/>
              <a:t>, with </a:t>
            </a:r>
            <a:r>
              <a:rPr lang="en-US" b="1" dirty="0"/>
              <a:t>30.30M (Cash)</a:t>
            </a:r>
            <a:r>
              <a:rPr lang="en-US" dirty="0"/>
              <a:t>, </a:t>
            </a:r>
            <a:r>
              <a:rPr lang="en-US" b="1" dirty="0"/>
              <a:t>23.26M (Credit Card)</a:t>
            </a:r>
            <a:r>
              <a:rPr lang="en-US" dirty="0"/>
              <a:t>, and </a:t>
            </a:r>
            <a:r>
              <a:rPr lang="en-US" b="1" dirty="0"/>
              <a:t>13.55M (Debit Card)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18–25 age group generated the lowest revenue</a:t>
            </a:r>
            <a:r>
              <a:rPr lang="en-US" dirty="0"/>
              <a:t> for each payment method, indicating lower spending compared to older customer segments.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Revenue consistently increases with age across all payment methods</a:t>
            </a:r>
            <a:r>
              <a:rPr lang="en-US" dirty="0"/>
              <a:t>, highlighting that middle-aged and senior customers contribute more to the company's sales. </a:t>
            </a:r>
          </a:p>
        </p:txBody>
      </p:sp>
    </p:spTree>
    <p:extLst>
      <p:ext uri="{BB962C8B-B14F-4D97-AF65-F5344CB8AC3E}">
        <p14:creationId xmlns:p14="http://schemas.microsoft.com/office/powerpoint/2010/main" val="179094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7CFE-57A5-483C-E5E6-C1CE939B09F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Distribution of Payment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8A1B2C-FC2E-A4C6-2A38-030A4D65D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" t="7398" r="4874" b="6888"/>
          <a:stretch/>
        </p:blipFill>
        <p:spPr>
          <a:xfrm>
            <a:off x="838200" y="1772816"/>
            <a:ext cx="4741506" cy="325180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2C8E90-B11D-C028-B589-D036A89302B4}"/>
              </a:ext>
            </a:extLst>
          </p:cNvPr>
          <p:cNvSpPr txBox="1"/>
          <p:nvPr/>
        </p:nvSpPr>
        <p:spPr>
          <a:xfrm>
            <a:off x="5579706" y="1885300"/>
            <a:ext cx="60975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 :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 is the most preferred payment method</a:t>
            </a:r>
            <a:r>
              <a:rPr lang="en-US" dirty="0"/>
              <a:t>, accounting for </a:t>
            </a:r>
            <a:r>
              <a:rPr lang="en-US" b="1" dirty="0"/>
              <a:t>44.45K transactions (44.69%)</a:t>
            </a:r>
            <a:r>
              <a:rPr lang="en-US" dirty="0"/>
              <a:t>, making it the dominant mode of payment.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Credit Card is the second most preferred payment method</a:t>
            </a:r>
            <a:r>
              <a:rPr lang="en-US" dirty="0"/>
              <a:t>, with </a:t>
            </a:r>
            <a:r>
              <a:rPr lang="en-US" b="1" dirty="0"/>
              <a:t>34.93K transactions (35.12%)</a:t>
            </a:r>
            <a:r>
              <a:rPr lang="en-US" dirty="0"/>
              <a:t>, indicating strong customer adoption of card payments.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Debit Card is the least preferred payment method</a:t>
            </a:r>
            <a:r>
              <a:rPr lang="en-US" dirty="0"/>
              <a:t>, contributing </a:t>
            </a:r>
            <a:r>
              <a:rPr lang="en-US" b="1" dirty="0"/>
              <a:t>20.08K transactions (20.19%)</a:t>
            </a:r>
            <a:r>
              <a:rPr lang="en-US" dirty="0"/>
              <a:t> of the total transactions.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5D550-EFAF-10A2-BCC3-FF3346D22868}"/>
              </a:ext>
            </a:extLst>
          </p:cNvPr>
          <p:cNvSpPr txBox="1"/>
          <p:nvPr/>
        </p:nvSpPr>
        <p:spPr>
          <a:xfrm>
            <a:off x="838200" y="5024621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Nearly 80% of all transactions were completed using either Cash or Credit Card</a:t>
            </a:r>
            <a:r>
              <a:rPr lang="en-US" dirty="0"/>
              <a:t>, highlighting a strong customer preference for these payment methods.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distribution suggests that </a:t>
            </a:r>
            <a:r>
              <a:rPr lang="en-US" b="1" dirty="0"/>
              <a:t>customers are more inclined to use Cash and Credit Cards</a:t>
            </a:r>
            <a:r>
              <a:rPr lang="en-US" dirty="0"/>
              <a:t>, while Debit Card usage remains comparatively low.</a:t>
            </a:r>
          </a:p>
        </p:txBody>
      </p:sp>
    </p:spTree>
    <p:extLst>
      <p:ext uri="{BB962C8B-B14F-4D97-AF65-F5344CB8AC3E}">
        <p14:creationId xmlns:p14="http://schemas.microsoft.com/office/powerpoint/2010/main" val="1613801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D12CB-2856-312B-738E-6E0CE31F60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712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8C13E4-60D8-9524-70A3-8A6277BC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92" y="1612343"/>
            <a:ext cx="1144414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Female customers are the primary contributors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business, generating the highest number of shopping transactions, products sold, and total revenue.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aged 56 years and above are the most valuable customer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leading in shopping frequency, product purchases, and overall revenue generation.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 is the best-performing product 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Shoes and Technology, making these the key revenue-driving categories.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 is the most preferred payment method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Credit Card, while Debit Card has the lowest customer usage.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purchasing behavior varies across age groups and product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providing valuable insights for targeted marketing, inventory planning, and business growth.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84C67-572A-7C98-7C06-B97DCE60A503}"/>
              </a:ext>
            </a:extLst>
          </p:cNvPr>
          <p:cNvSpPr txBox="1"/>
          <p:nvPr/>
        </p:nvSpPr>
        <p:spPr>
          <a:xfrm>
            <a:off x="716437" y="471699"/>
            <a:ext cx="10492033" cy="769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 Narrow" panose="020B0606020202030204" pitchFamily="34" charset="0"/>
              </a:rPr>
              <a:t>Overall Insights</a:t>
            </a:r>
          </a:p>
        </p:txBody>
      </p:sp>
    </p:spTree>
    <p:extLst>
      <p:ext uri="{BB962C8B-B14F-4D97-AF65-F5344CB8AC3E}">
        <p14:creationId xmlns:p14="http://schemas.microsoft.com/office/powerpoint/2010/main" val="404074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2A9001-B33A-A871-07BF-B8EF18AB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" y="1817714"/>
            <a:ext cx="11687175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campaigns on female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maximize revenue and strengthen customer loyalty.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 high-value customers aged 56+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loyalty programs, exclusive offers, and personalized services.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inventory and promotional efforts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high-performing categories such as Clothing, Shoes, and Technology to boost sales.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targeted campaigns for the 18–25 age 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discounts, digital promotions, and personalized offers to increase engagement and spending.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the use of digital payment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especially Debit Cards, through cashback offers and promotional incentives while continuing to support customers' preferred payment options.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F5D82-EBCE-878F-4E9D-9EA8E814C0C4}"/>
              </a:ext>
            </a:extLst>
          </p:cNvPr>
          <p:cNvSpPr txBox="1"/>
          <p:nvPr/>
        </p:nvSpPr>
        <p:spPr>
          <a:xfrm>
            <a:off x="1185419" y="635908"/>
            <a:ext cx="9821160" cy="769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Arial Narrow" panose="020B060602020203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525014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1760</Words>
  <Application>Microsoft Office PowerPoint</Application>
  <PresentationFormat>Widescreen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Arial Black</vt:lpstr>
      <vt:lpstr>Arial Narrow</vt:lpstr>
      <vt:lpstr>Book Antiqua</vt:lpstr>
      <vt:lpstr>Calibri</vt:lpstr>
      <vt:lpstr>Symbol</vt:lpstr>
      <vt:lpstr>Wingdings</vt:lpstr>
      <vt:lpstr>Office Theme</vt:lpstr>
      <vt:lpstr>Customer Shopping Data Analysis</vt:lpstr>
      <vt:lpstr>Project overview and Objective</vt:lpstr>
      <vt:lpstr>Dataset Overview:  Dataset Source: MySQL Database Total Records: 99,457 Transactions</vt:lpstr>
      <vt:lpstr>Shopping Distribution by Gender</vt:lpstr>
      <vt:lpstr>Products Sold by Gender</vt:lpstr>
      <vt:lpstr>Total Revenue by Gender</vt:lpstr>
      <vt:lpstr>Total Products sold by Category &amp; Gender</vt:lpstr>
      <vt:lpstr>Shopping Distribution by Age</vt:lpstr>
      <vt:lpstr>Products sold by Age </vt:lpstr>
      <vt:lpstr>Revenue Generated by Age</vt:lpstr>
      <vt:lpstr>Revenue Generated by Category &amp; Payment Method</vt:lpstr>
      <vt:lpstr>Payment Method Related to Revenue &amp; Age</vt:lpstr>
      <vt:lpstr>Distribution of Payment Method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2026-06-29T11:33:23Z</dcterms:created>
  <dcterms:modified xsi:type="dcterms:W3CDTF">2026-06-30T16:16:02Z</dcterms:modified>
</cp:coreProperties>
</file>